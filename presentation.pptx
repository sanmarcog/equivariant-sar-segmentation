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Avalanche debris segmentation on bi-temporal Sentinel-1 SAR. Two findings worth</a:t>
            </a:r>
          </a:p>
          <a:p>
            <a:r>
              <a:t>leaving with: (1) a small equivariant CNN matches state-of-the-art on pixel F1</a:t>
            </a:r>
          </a:p>
          <a:p>
            <a:r>
              <a:t>at 4× fewer params; (2) the standard benchmark metric hides a real operational</a:t>
            </a:r>
          </a:p>
          <a:p>
            <a:r>
              <a:t>gap — our model finds more actual avalanches. ~15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care. Avalanches kill ~150 people per year in Europe. They happen during</a:t>
            </a:r>
          </a:p>
          <a:p>
            <a:r>
              <a:t>storms, when optical satellites see only clouds. Sentinel-1 SAR is free,</a:t>
            </a:r>
          </a:p>
          <a:p>
            <a:r>
              <a:t>all-weather, and sees through cloud and night. Its downside: the imagery is</a:t>
            </a:r>
          </a:p>
          <a:p>
            <a:r>
              <a:t>noisy and deposits only show up as a difference between pre-storm and</a:t>
            </a:r>
          </a:p>
          <a:p>
            <a:r>
              <a:t>post-storm acquisitions. The goal is an automatic pipeline: hand it two SAR</a:t>
            </a:r>
          </a:p>
          <a:p>
            <a:r>
              <a:t>scenes, get back a deposit map. The example on the right shows raw VH</a:t>
            </a:r>
          </a:p>
          <a:p>
            <a:r>
              <a:t>backscatter with a deposit polygon overlaid.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AvalCD public benchmark from Gatti et al. Five training scenes (Italy,</a:t>
            </a:r>
          </a:p>
          <a:p>
            <a:r>
              <a:t>Greenland, Pakistan), one validation scene, and one out-of-distribution test</a:t>
            </a:r>
          </a:p>
          <a:p>
            <a:r>
              <a:t>scene — Tromsø, 117 polygons, 0.5% of pixels positive. Deposits labeled with</a:t>
            </a:r>
          </a:p>
          <a:p>
            <a:r>
              <a:t>EAWS D-scale: D1 knocks down a person, D2 can bury, D3 can destroy a car, D4</a:t>
            </a:r>
          </a:p>
          <a:p>
            <a:r>
              <a:t>can destroy a building. Test scene is D3-dominated (n=72). Median deposit is</a:t>
            </a:r>
          </a:p>
          <a:p>
            <a:r>
              <a:t>~12 000 m² — roughly a small parking lot.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physical insight. All 8 panels are the same real avalanche patch under the</a:t>
            </a:r>
          </a:p>
          <a:p>
            <a:r>
              <a:t>4 rotations and 4 reflections that make up D4 — the symmetry group of the</a:t>
            </a:r>
          </a:p>
          <a:p>
            <a:r>
              <a:t>square. Physically equivalent: the avalanche doesn't know which way the</a:t>
            </a:r>
          </a:p>
          <a:p>
            <a:r>
              <a:t>satellite flew. Standard CNN has to learn this from augmented data.</a:t>
            </a:r>
          </a:p>
          <a:p>
            <a:r>
              <a:t>D4-equivariant CNN encodes the symmetry into the convolutions. Rotation in →</a:t>
            </a:r>
          </a:p>
          <a:p>
            <a:r>
              <a:t>rotation out, guaranteed.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12-channel input (pre, post, plus derived features). Two encoder branches with</a:t>
            </a:r>
          </a:p>
          <a:p>
            <a:r>
              <a:t>SHARED weights — both D4-equivariant. Subtract pre features from post features</a:t>
            </a:r>
          </a:p>
          <a:p>
            <a:r>
              <a:t>(the change). GroupPool to an invariant tensor. Small Conv2d decoder turns</a:t>
            </a:r>
          </a:p>
          <a:p>
            <a:r>
              <a:t>that into a pixel-level prediction, with DEM and slope injected at each</a:t>
            </a:r>
          </a:p>
          <a:p>
            <a:r>
              <a:t>decoder stage. Two outputs: mask and deposit area. Total: 625,617 parameters.</a:t>
            </a:r>
          </a:p>
          <a:p>
            <a:r>
              <a:t>Gatti's Swin-UNet: 2.39 million.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Table 5 from Gatti's paper with our model inserted, paired with the Pareto plot</a:t>
            </a:r>
          </a:p>
          <a:p>
            <a:r>
              <a:t>on the right. U-Net and FCN8 are the old guard: 30-130M params, weak F1.</a:t>
            </a:r>
          </a:p>
          <a:p>
            <a:r>
              <a:t>TinyCD, RUNet, A-BT-UNet — more recent. At the top: Swin-UNet at 2.39M</a:t>
            </a:r>
          </a:p>
          <a:p>
            <a:r>
              <a:t>params, F1 0.803. Ours: 0.63M params, F1 0.794. Within 1pp of Swin-UNet at</a:t>
            </a:r>
          </a:p>
          <a:p>
            <a:r>
              <a:t>4× fewer params — and as the Pareto plot on the right makes visually clear,</a:t>
            </a:r>
          </a:p>
          <a:p>
            <a:r>
              <a:t>we sit alone in the bottom-right of the frontier (high F1, low params).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views of the same predictions. Left: pixel F1 vs instance F1 bar chart —</a:t>
            </a:r>
          </a:p>
          <a:p>
            <a:r>
              <a:t>same model pair, same ground truth. The pixel bars are nearly identical; the</a:t>
            </a:r>
          </a:p>
          <a:p>
            <a:r>
              <a:t>instance bars split wide open. Right: D-scale breakdown of the instance F1.</a:t>
            </a:r>
          </a:p>
          <a:p>
            <a:r>
              <a:t>D2 (small) — tie. D3 (medium, car-destroying) — +13 points on n=72,</a:t>
            </a:r>
          </a:p>
          <a:p>
            <a:r>
              <a:t>well-powered. D4 (large) — +6 points. Overall +10.7 pp. This gap is robust</a:t>
            </a:r>
          </a:p>
          <a:p>
            <a:r>
              <a:t>across IoU thresholds and under center-point matching.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real example from Tromsø. Left to right: VH backscatter, ground truth,</a:t>
            </a:r>
          </a:p>
          <a:p>
            <a:r>
              <a:t>our probability, Gatti's probability. Same cyan outline. Our model locks onto</a:t>
            </a:r>
          </a:p>
          <a:p>
            <a:r>
              <a:t>the actual deposit — IoU 0.77. Swin-UNet spills probability all over — IoU</a:t>
            </a:r>
          </a:p>
          <a:p>
            <a:r>
              <a:t>0.20. This is the 10-point gap in one frame.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DPR = Detect-Propose-Refine. Motivation: Mask R-CNN decomposes instance</a:t>
            </a:r>
          </a:p>
          <a:p>
            <a:r>
              <a:t>segmentation — so maybe we could too. Phase 1 (separate repo) is a classifier</a:t>
            </a:r>
          </a:p>
          <a:p>
            <a:r>
              <a:t>with the same D4-equivariant backbone but a classification head — patches in,</a:t>
            </a:r>
          </a:p>
          <a:p>
            <a:r>
              <a:t>Y/N out. Transfers to Tromsø OOD with 100% recall of real deposits.</a:t>
            </a:r>
          </a:p>
          <a:p/>
          <a:p>
            <a:r>
              <a:t>Three variants:</a:t>
            </a:r>
          </a:p>
          <a:p>
            <a:r>
              <a:t>1. Fine-tune a conditional segmenter on crops where Phase 1 fires → F1 0.555.</a:t>
            </a:r>
          </a:p>
          <a:p>
            <a:r>
              <a:t>   Cause: 150 TP crops vs 30k pixel patches. Data scarcity.</a:t>
            </a:r>
          </a:p>
          <a:p>
            <a:r>
              <a:t>2. Freeze the encoder during retraining → F1 0.551. Almost identical — so it's</a:t>
            </a:r>
          </a:p>
          <a:p>
            <a:r>
              <a:t>   not catastrophic forgetting, it's data volume.</a:t>
            </a:r>
          </a:p>
          <a:p>
            <a:r>
              <a:t>3. Add Phase 1's heatmap as an extra Phase 2 channel, train on all 30k</a:t>
            </a:r>
          </a:p>
          <a:p>
            <a:r>
              <a:t>   patches → F1 0.773. Below our 0.794 baseline. Phase 1 output is redundant</a:t>
            </a:r>
          </a:p>
          <a:p>
            <a:r>
              <a:t>   with Phase 2's internal features.</a:t>
            </a:r>
          </a:p>
          <a:p/>
          <a:p>
            <a:r>
              <a:t>Conclusion: instance advantage is architectural, not glueable.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negatives worth the slide. Lambda sweep: we trained the component-IoU</a:t>
            </a:r>
          </a:p>
          <a:p>
            <a:r>
              <a:t>loss at five lambda values. Never found a setting that kept both pixel F1 high</a:t>
            </a:r>
          </a:p>
          <a:p>
            <a:r>
              <a:t>AND D2 detection up. Bigger/deeper models hurt — evidence for bias, not scale.</a:t>
            </a:r>
          </a:p>
          <a:p>
            <a:r>
              <a:t>Heavy regularization hurt — equivariance is already regularizing. Calibration</a:t>
            </a:r>
          </a:p>
          <a:p>
            <a:r>
              <a:t>asymmetry: both hit F1 ~0.79 at very different thresholds — 0.225 vs 0.775.</a:t>
            </a:r>
          </a:p>
          <a:p>
            <a:r>
              <a:t>Interesting for practitioners; doesn't change the ranking.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contributions. 01 METHOD: instance-level F1 with IoU matching should</a:t>
            </a:r>
          </a:p>
          <a:p>
            <a:r>
              <a:t>become standard reporting on AvalCD — pixel F1 is demonstrably blind to</a:t>
            </a:r>
          </a:p>
          <a:p>
            <a:r>
              <a:t>operational behavior. 02 MODEL: 625k params beats 2.39M on instance F1,</a:t>
            </a:r>
          </a:p>
          <a:p>
            <a:r>
              <a:t>matches on pixel F1. 03 OPS: gap is largest where it matters — D3, with n=72</a:t>
            </a:r>
          </a:p>
          <a:p>
            <a:r>
              <a:t>and well-powered. 04 RIGOR: DPR, loss engineering, scale — all failed.</a:t>
            </a:r>
          </a:p>
          <a:p>
            <a:r>
              <a:t>Advantage is architectural.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Conclusion: for a problem with known symmetry, a small equivariant network</a:t>
            </a:r>
          </a:p>
          <a:p>
            <a:r>
              <a:t>beats a larger transformer that has to LEARN the symmetry — on the standard</a:t>
            </a:r>
          </a:p>
          <a:p>
            <a:r>
              <a:t>metric (tied) AND on the metric that matters for operations (+10.7 pp).</a:t>
            </a:r>
          </a:p>
          <a:p>
            <a:r>
              <a:t>Advantage is architectural — we tried the alternatives, they failed.</a:t>
            </a:r>
          </a:p>
          <a:p/>
          <a:p>
            <a:r>
              <a:t>Next: cross-scene validation, seed variance, D2 floor analysis, operational</a:t>
            </a:r>
          </a:p>
          <a:p>
            <a:r>
              <a:t>pipeline, other SAR missions.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Happy to go deeper on: escnn regular representations, the instance-matching</a:t>
            </a:r>
          </a:p>
          <a:p>
            <a:r>
              <a:t>rule, SAR log-ratio channels, Phase 1 architecture, or any of the negative</a:t>
            </a:r>
          </a:p>
          <a:p>
            <a:r>
              <a:t>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D3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2103120"/>
            <a:ext cx="109728" cy="256032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9202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D4A574"/>
                </a:solidFill>
                <a:latin typeface="Futura"/>
              </a:rPr>
              <a:t>PHASE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33172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>
                <a:solidFill>
                  <a:srgbClr val="EFE8DB"/>
                </a:solidFill>
                <a:latin typeface="Futura"/>
              </a:rPr>
              <a:t>DETECTING AVALANCHES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20040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>
                <a:solidFill>
                  <a:srgbClr val="EFE8DB"/>
                </a:solidFill>
                <a:latin typeface="Futura"/>
              </a:rPr>
              <a:t>IN SAR IMAGERY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3891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D4A574"/>
                </a:solidFill>
                <a:latin typeface="Avenir Next"/>
              </a:rPr>
              <a:t>A small D4-equivariant CNN, and an honest look at the metric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5989320"/>
            <a:ext cx="2286000" cy="27432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612648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FE8DB"/>
                </a:solidFill>
                <a:latin typeface="Futura"/>
              </a:rPr>
              <a:t>GUILLERMO SAN MARCO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B8374"/>
                </a:solidFill>
                <a:latin typeface="Avenir Next"/>
              </a:rPr>
              <a:t>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8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2D3142"/>
                </a:solidFill>
                <a:latin typeface="Futura"/>
              </a:rPr>
              <a:t>WHY THIS MATTERS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25880"/>
            <a:ext cx="822960" cy="4572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8B8374"/>
                </a:solidFill>
                <a:latin typeface="Avenir Next"/>
              </a:rPr>
              <a:t>Avalanche rescue and road management depend on knowing where debris fell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65836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2D3142"/>
                </a:solidFill>
                <a:latin typeface="Avenir Next"/>
              </a:rPr>
              <a:t>—  Avalanches kill ~150 people a year in Europe alone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2D3142"/>
                </a:solidFill>
                <a:latin typeface="Avenir Next"/>
              </a:rPr>
              <a:t>—  Optical imagery is useless under clouds — avalanches happen in storms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2D3142"/>
                </a:solidFill>
                <a:latin typeface="Avenir Next"/>
              </a:rPr>
              <a:t>—  SAR sees through cloud / night — the only reliable sensor at scale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2D3142"/>
                </a:solidFill>
                <a:latin typeface="Avenir Next"/>
              </a:rPr>
              <a:t>—  Key signal: the DIFFERENCE between a pre-storm and post-storm acquisition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2D3142"/>
                </a:solidFill>
                <a:latin typeface="Avenir Next"/>
              </a:rPr>
              <a:t>—  Goal: automatic, pixel-accurate deposit maps from free Sentinel-1 data</a:t>
            </a:r>
          </a:p>
        </p:txBody>
      </p:sp>
      <p:pic>
        <p:nvPicPr>
          <p:cNvPr id="7" name="Picture 6" descr="pair16_over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2103120"/>
            <a:ext cx="5068614" cy="4572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460175" y="649224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B8374"/>
                </a:solidFill>
                <a:latin typeface="Avenir Next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8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2D3142"/>
                </a:solidFill>
                <a:latin typeface="Futura"/>
              </a:rPr>
              <a:t>THE DATASET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25880"/>
            <a:ext cx="822960" cy="4572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8B8374"/>
                </a:solidFill>
                <a:latin typeface="Avenir Next"/>
              </a:rPr>
              <a:t>AvalCD (Gatti et al.)  ·  117 polygons on the held-out Tromsø OOD test scene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3749039" cy="1051560"/>
          </a:xfrm>
          <a:prstGeom prst="rect">
            <a:avLst/>
          </a:prstGeom>
          <a:solidFill>
            <a:srgbClr val="F7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83080"/>
            <a:ext cx="73152" cy="1051560"/>
          </a:xfrm>
          <a:prstGeom prst="rect">
            <a:avLst/>
          </a:prstGeom>
          <a:solidFill>
            <a:srgbClr val="4A67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92808"/>
            <a:ext cx="3383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4A6741"/>
                </a:solidFill>
                <a:latin typeface="Futura"/>
              </a:rPr>
              <a:t>TRAIN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94560"/>
            <a:ext cx="3383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D3142"/>
                </a:solidFill>
                <a:latin typeface="Avenir Next"/>
              </a:rPr>
              <a:t>5 scenes  ·  ~34 k deposit pixels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514600"/>
            <a:ext cx="3383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8B8374"/>
                </a:solidFill>
                <a:latin typeface="Avenir Next"/>
              </a:rPr>
              <a:t>Livigno ×2, Nuuk ×2, Pish ×1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80559" y="1783080"/>
            <a:ext cx="3749039" cy="1051560"/>
          </a:xfrm>
          <a:prstGeom prst="rect">
            <a:avLst/>
          </a:prstGeom>
          <a:solidFill>
            <a:srgbClr val="F7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0559" y="1783080"/>
            <a:ext cx="73152" cy="105156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09159" y="1892808"/>
            <a:ext cx="3383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D4A574"/>
                </a:solidFill>
                <a:latin typeface="Futura"/>
              </a:rPr>
              <a:t>VAL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59" y="2194560"/>
            <a:ext cx="3383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D3142"/>
                </a:solidFill>
                <a:latin typeface="Avenir Next"/>
              </a:rPr>
              <a:t>Livigno  2025-03-18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9159" y="2514600"/>
            <a:ext cx="3383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8B8374"/>
                </a:solidFill>
                <a:latin typeface="Avenir Next"/>
              </a:rPr>
              <a:t>threshold &amp; calibration tuning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321038" y="1783080"/>
            <a:ext cx="3749039" cy="1051560"/>
          </a:xfrm>
          <a:prstGeom prst="rect">
            <a:avLst/>
          </a:prstGeom>
          <a:solidFill>
            <a:srgbClr val="F7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321038" y="1783080"/>
            <a:ext cx="73152" cy="105156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49638" y="1892808"/>
            <a:ext cx="33832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C1440E"/>
                </a:solidFill>
                <a:latin typeface="Futura"/>
              </a:rPr>
              <a:t>TEST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38" y="2194560"/>
            <a:ext cx="3383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D3142"/>
                </a:solidFill>
                <a:latin typeface="Avenir Next"/>
              </a:rPr>
              <a:t>Tromsø  2024-12-20   (OOD)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9638" y="2514600"/>
            <a:ext cx="3383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8B8374"/>
                </a:solidFill>
                <a:latin typeface="Avenir Next"/>
              </a:rPr>
              <a:t>117 polygons  ·  0.5 % pixels positive</a:t>
            </a:r>
          </a:p>
        </p:txBody>
      </p:sp>
      <p:pic>
        <p:nvPicPr>
          <p:cNvPr id="21" name="Picture 20" descr="e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3108960"/>
            <a:ext cx="11612880" cy="3221122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1460175" y="649224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B8374"/>
                </a:solidFill>
                <a:latin typeface="Avenir Next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8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2D3142"/>
                </a:solidFill>
                <a:latin typeface="Futura"/>
              </a:rPr>
              <a:t>ORIENTATION DOESN'T MATTER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25880"/>
            <a:ext cx="822960" cy="4572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8B8374"/>
                </a:solidFill>
                <a:latin typeface="Avenir Next"/>
              </a:rPr>
              <a:t>A rotated avalanche is still the same avalanche — the satellite just flew a different path</a:t>
            </a:r>
          </a:p>
        </p:txBody>
      </p:sp>
      <p:pic>
        <p:nvPicPr>
          <p:cNvPr id="6" name="Picture 5" descr="d4_on_deb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28800"/>
            <a:ext cx="10972800" cy="712260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3550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C1440E"/>
                </a:solidFill>
                <a:latin typeface="Avenir Next"/>
              </a:rPr>
              <a:t>A standard CNN must LEARN this from 8× augmented data.  A D4-equivariant CNN gets it for free, by construction.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60175" y="649224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B8374"/>
                </a:solidFill>
                <a:latin typeface="Avenir Next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8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2D3142"/>
                </a:solidFill>
                <a:latin typeface="Futura"/>
              </a:rPr>
              <a:t>OUR APPROACH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25880"/>
            <a:ext cx="822960" cy="4572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8B8374"/>
                </a:solidFill>
                <a:latin typeface="Avenir Next"/>
              </a:rPr>
              <a:t>A small equivariant encoder compares pre and post scenes</a:t>
            </a:r>
          </a:p>
        </p:txBody>
      </p:sp>
      <p:pic>
        <p:nvPicPr>
          <p:cNvPr id="6" name="Picture 5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828800"/>
            <a:ext cx="11612880" cy="654252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60175" y="649224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B8374"/>
                </a:solidFill>
                <a:latin typeface="Avenir Next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8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2D3142"/>
                </a:solidFill>
                <a:latin typeface="Futura"/>
              </a:rPr>
              <a:t>PIXEL-LEVEL RESULTS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25880"/>
            <a:ext cx="822960" cy="4572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8B8374"/>
                </a:solidFill>
                <a:latin typeface="Avenir Next"/>
              </a:rPr>
              <a:t>AvalCD Table 5 (Gatti et al.) with our model added  ·  Pareto frontier on params × F1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359152"/>
            <a:ext cx="5394960" cy="18288"/>
          </a:xfrm>
          <a:prstGeom prst="rect">
            <a:avLst/>
          </a:prstGeom>
          <a:solidFill>
            <a:srgbClr val="2D3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75688"/>
            <a:ext cx="29260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D3142"/>
                </a:solidFill>
                <a:latin typeface="Futura"/>
              </a:rPr>
              <a:t>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2075688"/>
            <a:ext cx="12801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2D3142"/>
                </a:solidFill>
                <a:latin typeface="Futura"/>
              </a:rPr>
              <a:t>PARAMS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2075688"/>
            <a:ext cx="91440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2D3142"/>
                </a:solidFill>
                <a:latin typeface="Futura"/>
              </a:rPr>
              <a:t>F1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514600"/>
            <a:ext cx="29260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2D3142"/>
                </a:solidFill>
                <a:latin typeface="Avenir Next"/>
              </a:rPr>
              <a:t>U-Net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2514600"/>
            <a:ext cx="12801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2D3142"/>
                </a:solidFill>
                <a:latin typeface="Avenir Next"/>
              </a:rPr>
              <a:t>31.0 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2514600"/>
            <a:ext cx="91440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2D3142"/>
                </a:solidFill>
                <a:latin typeface="Avenir Next"/>
              </a:rPr>
              <a:t>0.487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953512"/>
            <a:ext cx="29260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2D3142"/>
                </a:solidFill>
                <a:latin typeface="Avenir Next"/>
              </a:rPr>
              <a:t>FCN8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953512"/>
            <a:ext cx="12801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2D3142"/>
                </a:solidFill>
                <a:latin typeface="Avenir Next"/>
              </a:rPr>
              <a:t>134.3 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2953512"/>
            <a:ext cx="91440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2D3142"/>
                </a:solidFill>
                <a:latin typeface="Avenir Next"/>
              </a:rPr>
              <a:t>0.602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392424"/>
            <a:ext cx="29260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2D3142"/>
                </a:solidFill>
                <a:latin typeface="Avenir Next"/>
              </a:rPr>
              <a:t>TinyCD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3392424"/>
            <a:ext cx="12801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2D3142"/>
                </a:solidFill>
                <a:latin typeface="Avenir Next"/>
              </a:rPr>
              <a:t>0.29 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0" y="3392424"/>
            <a:ext cx="91440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2D3142"/>
                </a:solidFill>
                <a:latin typeface="Avenir Next"/>
              </a:rPr>
              <a:t>0.766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831336"/>
            <a:ext cx="29260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2D3142"/>
                </a:solidFill>
                <a:latin typeface="Avenir Next"/>
              </a:rPr>
              <a:t>RUNet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3831336"/>
            <a:ext cx="12801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2D3142"/>
                </a:solidFill>
                <a:latin typeface="Avenir Next"/>
              </a:rPr>
              <a:t>7.76 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37760" y="3831336"/>
            <a:ext cx="91440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2D3142"/>
                </a:solidFill>
                <a:latin typeface="Avenir Next"/>
              </a:rPr>
              <a:t>0.767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270248"/>
            <a:ext cx="29260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2D3142"/>
                </a:solidFill>
                <a:latin typeface="Avenir Next"/>
              </a:rPr>
              <a:t>A-BT-UNet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4270248"/>
            <a:ext cx="12801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2D3142"/>
                </a:solidFill>
                <a:latin typeface="Avenir Next"/>
              </a:rPr>
              <a:t>12.4 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37760" y="4270248"/>
            <a:ext cx="91440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2D3142"/>
                </a:solidFill>
                <a:latin typeface="Avenir Next"/>
              </a:rPr>
              <a:t>0.793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4599432"/>
            <a:ext cx="5394960" cy="438912"/>
          </a:xfrm>
          <a:prstGeom prst="rect">
            <a:avLst/>
          </a:prstGeom>
          <a:solidFill>
            <a:srgbClr val="F7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4599432"/>
            <a:ext cx="73152" cy="438912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4709160"/>
            <a:ext cx="29260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C1440E"/>
                </a:solidFill>
                <a:latin typeface="Avenir Next"/>
              </a:rPr>
              <a:t>D4-EquiCNN  (ours)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0" y="4709160"/>
            <a:ext cx="12801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C1440E"/>
                </a:solidFill>
                <a:latin typeface="Avenir Next"/>
              </a:rPr>
              <a:t>0.63 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37760" y="4709160"/>
            <a:ext cx="91440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C1440E"/>
                </a:solidFill>
                <a:latin typeface="Avenir Next"/>
              </a:rPr>
              <a:t>0.794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5148072"/>
            <a:ext cx="29260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2D3142"/>
                </a:solidFill>
                <a:latin typeface="Avenir Next"/>
              </a:rPr>
              <a:t>Swin-UNet (Gatti)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0" y="5148072"/>
            <a:ext cx="12801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2D3142"/>
                </a:solidFill>
                <a:latin typeface="Avenir Next"/>
              </a:rPr>
              <a:t>2.39 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37760" y="5148072"/>
            <a:ext cx="91440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2D3142"/>
                </a:solidFill>
                <a:latin typeface="Avenir Next"/>
              </a:rPr>
              <a:t>0.803</a:t>
            </a:r>
          </a:p>
        </p:txBody>
      </p:sp>
      <p:pic>
        <p:nvPicPr>
          <p:cNvPr id="33" name="Picture 32" descr="param_fronti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7280646" cy="4297680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548640" y="6035040"/>
            <a:ext cx="73152" cy="50292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60807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D3142"/>
                </a:solidFill>
                <a:latin typeface="Futura"/>
              </a:rPr>
              <a:t>6 TH OF 7 ON TABLE 5  ·  WITHIN 1 PP OF THE LEADER  ·  4× FEWER PARAMETERS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640080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B8374"/>
                </a:solidFill>
                <a:latin typeface="Avenir Next"/>
              </a:rPr>
              <a:t>Pareto-dominant bottom-right of the frontier.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60175" y="649224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B8374"/>
                </a:solidFill>
                <a:latin typeface="Avenir Next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8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2D3142"/>
                </a:solidFill>
                <a:latin typeface="Futura"/>
              </a:rPr>
              <a:t>PIXEL F1 VS INSTANCE F1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25880"/>
            <a:ext cx="822960" cy="4572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8B8374"/>
                </a:solidFill>
                <a:latin typeface="Avenir Next"/>
              </a:rPr>
              <a:t>Same predictions, different metric, different ranking  ·  Tromsø test scene</a:t>
            </a:r>
          </a:p>
        </p:txBody>
      </p:sp>
      <p:pic>
        <p:nvPicPr>
          <p:cNvPr id="6" name="Picture 5" descr="metric_disagre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651760"/>
            <a:ext cx="5486400" cy="2468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1828800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D3142"/>
                </a:solidFill>
                <a:latin typeface="Futura"/>
              </a:rPr>
              <a:t>INSTANCE F1 BREAKDOWN BY D-SCALE  (IOU &gt; 0.3)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2788920"/>
            <a:ext cx="5669280" cy="18288"/>
          </a:xfrm>
          <a:prstGeom prst="rect">
            <a:avLst/>
          </a:prstGeom>
          <a:solidFill>
            <a:srgbClr val="2D3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2423160"/>
            <a:ext cx="1737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D3142"/>
                </a:solidFill>
                <a:latin typeface="Futura"/>
              </a:rPr>
              <a:t>D-SCALE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0" y="2423160"/>
            <a:ext cx="1097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2D3142"/>
                </a:solidFill>
                <a:latin typeface="Futura"/>
              </a:rPr>
              <a:t>OURS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423160"/>
            <a:ext cx="1097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2D3142"/>
                </a:solidFill>
                <a:latin typeface="Futura"/>
              </a:rPr>
              <a:t>GATTI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0" y="2423160"/>
            <a:ext cx="1097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2D3142"/>
                </a:solidFill>
                <a:latin typeface="Futura"/>
              </a:rPr>
              <a:t>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2423160"/>
            <a:ext cx="1097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2D3142"/>
                </a:solidFill>
                <a:latin typeface="Futura"/>
              </a:rPr>
              <a:t>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971800"/>
            <a:ext cx="1737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2D3142"/>
                </a:solidFill>
                <a:latin typeface="Avenir Next"/>
              </a:rPr>
              <a:t>D2  small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80" y="2971800"/>
            <a:ext cx="1097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2D3142"/>
                </a:solidFill>
                <a:latin typeface="Avenir Next"/>
              </a:rPr>
              <a:t>0.113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0" y="2971800"/>
            <a:ext cx="1097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2D3142"/>
                </a:solidFill>
                <a:latin typeface="Avenir Next"/>
              </a:rPr>
              <a:t>0.115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75520" y="2971800"/>
            <a:ext cx="1097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2D3142"/>
                </a:solidFill>
                <a:latin typeface="Avenir Next"/>
              </a:rPr>
              <a:t>−0.002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2971800"/>
            <a:ext cx="1097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2D3142"/>
                </a:solidFill>
                <a:latin typeface="Avenir Next"/>
              </a:rPr>
              <a:t>25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3383280"/>
            <a:ext cx="5669280" cy="548640"/>
          </a:xfrm>
          <a:prstGeom prst="rect">
            <a:avLst/>
          </a:prstGeom>
          <a:solidFill>
            <a:srgbClr val="F7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3383280"/>
            <a:ext cx="73152" cy="54864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3520440"/>
            <a:ext cx="1737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C1440E"/>
                </a:solidFill>
                <a:latin typeface="Avenir Next"/>
              </a:rPr>
              <a:t>D3  medium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80" y="3520440"/>
            <a:ext cx="1097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C1440E"/>
                </a:solidFill>
                <a:latin typeface="Avenir Next"/>
              </a:rPr>
              <a:t>0.531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0" y="3520440"/>
            <a:ext cx="1097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C1440E"/>
                </a:solidFill>
                <a:latin typeface="Avenir Next"/>
              </a:rPr>
              <a:t>0.399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75520" y="3520440"/>
            <a:ext cx="1097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C1440E"/>
                </a:solidFill>
                <a:latin typeface="Avenir Next"/>
              </a:rPr>
              <a:t>+0.132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3520440"/>
            <a:ext cx="1097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C1440E"/>
                </a:solidFill>
                <a:latin typeface="Avenir Next"/>
              </a:rPr>
              <a:t>72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4069080"/>
            <a:ext cx="1737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2D3142"/>
                </a:solidFill>
                <a:latin typeface="Avenir Next"/>
              </a:rPr>
              <a:t>D4  large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5280" y="4069080"/>
            <a:ext cx="1097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2D3142"/>
                </a:solidFill>
                <a:latin typeface="Avenir Next"/>
              </a:rPr>
              <a:t>0.199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9680" y="4069080"/>
            <a:ext cx="1097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2D3142"/>
                </a:solidFill>
                <a:latin typeface="Avenir Next"/>
              </a:rPr>
              <a:t>0.136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75520" y="4069080"/>
            <a:ext cx="1097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2D3142"/>
                </a:solidFill>
                <a:latin typeface="Avenir Next"/>
              </a:rPr>
              <a:t>+0.063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0" y="4069080"/>
            <a:ext cx="1097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2D3142"/>
                </a:solidFill>
                <a:latin typeface="Avenir Next"/>
              </a:rPr>
              <a:t>16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0" y="4480560"/>
            <a:ext cx="5669280" cy="548640"/>
          </a:xfrm>
          <a:prstGeom prst="rect">
            <a:avLst/>
          </a:prstGeom>
          <a:solidFill>
            <a:srgbClr val="F7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17920" y="4480560"/>
            <a:ext cx="73152" cy="54864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4617720"/>
            <a:ext cx="1737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C1440E"/>
                </a:solidFill>
                <a:latin typeface="Avenir Next"/>
              </a:rPr>
              <a:t>all excl D1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55280" y="4617720"/>
            <a:ext cx="1097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C1440E"/>
                </a:solidFill>
                <a:latin typeface="Avenir Next"/>
              </a:rPr>
              <a:t>0.637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69680" y="4617720"/>
            <a:ext cx="1097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C1440E"/>
                </a:solidFill>
                <a:latin typeface="Avenir Next"/>
              </a:rPr>
              <a:t>0.530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0" y="4617720"/>
            <a:ext cx="1097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C1440E"/>
                </a:solidFill>
                <a:latin typeface="Avenir Next"/>
              </a:rPr>
              <a:t>+0.107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55680" y="4617720"/>
            <a:ext cx="1097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C1440E"/>
                </a:solidFill>
                <a:latin typeface="Avenir Next"/>
              </a:rPr>
              <a:t>113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17920" y="521208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D3142"/>
                </a:solidFill>
                <a:latin typeface="Avenir Next"/>
              </a:rPr>
              <a:t>D3 is where the gap is largest  —  and D3 is what practitioners act on.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17920" y="553212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8B8374"/>
                </a:solidFill>
                <a:latin typeface="Avenir Next"/>
              </a:rPr>
              <a:t>Robust across IoU thresholds 0.1–0.5  ·  center-point matching confirms the ranking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40" y="6309360"/>
            <a:ext cx="73152" cy="4572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" y="63093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D3142"/>
                </a:solidFill>
                <a:latin typeface="Futura"/>
              </a:rPr>
              <a:t>PIXEL F1 SAYS TIE  ·  INSTANCE F1 SAYS +10.7 PP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7240" y="658368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B8374"/>
                </a:solidFill>
                <a:latin typeface="Avenir Next"/>
              </a:rPr>
              <a:t>Pixel F1 treats every pixel independently. It does not ask "which avalanches did you find?"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460175" y="649224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B8374"/>
                </a:solidFill>
                <a:latin typeface="Avenir Next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8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2D3142"/>
                </a:solidFill>
                <a:latin typeface="Futura"/>
              </a:rPr>
              <a:t>ONE DEPOSIT, TWO MODELS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25880"/>
            <a:ext cx="822960" cy="4572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8B8374"/>
                </a:solidFill>
                <a:latin typeface="Avenir Next"/>
              </a:rPr>
              <a:t>Same ground-truth outline  ·  same inference pipeline  ·  different architectures</a:t>
            </a:r>
          </a:p>
        </p:txBody>
      </p:sp>
      <p:pic>
        <p:nvPicPr>
          <p:cNvPr id="6" name="Picture 5" descr="head_to_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011680"/>
            <a:ext cx="11612880" cy="462791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60175" y="649224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B8374"/>
                </a:solidFill>
                <a:latin typeface="Avenir Next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8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2D3142"/>
                </a:solidFill>
                <a:latin typeface="Futura"/>
              </a:rPr>
              <a:t>CAN WE BOLT ON AN INSTANCE HEAD?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25880"/>
            <a:ext cx="822960" cy="4572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8B8374"/>
                </a:solidFill>
                <a:latin typeface="Avenir Next"/>
              </a:rPr>
              <a:t>Phase 1 of this project  ·  what we tried  ·  what happened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920240"/>
            <a:ext cx="5394960" cy="4389120"/>
          </a:xfrm>
          <a:prstGeom prst="rect">
            <a:avLst/>
          </a:prstGeom>
          <a:solidFill>
            <a:srgbClr val="F7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920240"/>
            <a:ext cx="73152" cy="4389120"/>
          </a:xfrm>
          <a:prstGeom prst="rect">
            <a:avLst/>
          </a:prstGeom>
          <a:solidFill>
            <a:srgbClr val="4A67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0574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4A6741"/>
                </a:solidFill>
                <a:latin typeface="Futura"/>
              </a:rPr>
              <a:t>MOTIVATION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468880"/>
            <a:ext cx="50292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>
                <a:solidFill>
                  <a:srgbClr val="2D3142"/>
                </a:solidFill>
                <a:latin typeface="Avenir Next"/>
              </a:rPr>
              <a:t>—  Maybe the instance-F1 gap can be fixed with pipeline engineering</a:t>
            </a:r>
          </a:p>
          <a:p>
            <a:pPr algn="l">
              <a:spcAft>
                <a:spcPts val="800"/>
              </a:spcAft>
            </a:pPr>
            <a:r>
              <a:rPr sz="1300">
                <a:solidFill>
                  <a:srgbClr val="2D3142"/>
                </a:solidFill>
                <a:latin typeface="Avenir Next"/>
              </a:rPr>
              <a:t>—  Mask R-CNN decomposes detect → segment; we can try the same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0233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4A6741"/>
                </a:solidFill>
                <a:latin typeface="Futura"/>
              </a:rPr>
              <a:t>WHAT IS PHASE 1?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434840"/>
            <a:ext cx="50292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>
                <a:solidFill>
                  <a:srgbClr val="2D3142"/>
                </a:solidFill>
                <a:latin typeface="Avenir Next"/>
              </a:rPr>
              <a:t>—  Same D4-equivariant backbone, classification head</a:t>
            </a:r>
          </a:p>
          <a:p>
            <a:pPr algn="l">
              <a:spcAft>
                <a:spcPts val="800"/>
              </a:spcAft>
            </a:pPr>
            <a:r>
              <a:rPr sz="1300">
                <a:solidFill>
                  <a:srgbClr val="2D3142"/>
                </a:solidFill>
                <a:latin typeface="Avenir Next"/>
              </a:rPr>
              <a:t>—  Slides 64 × 64 patches across the scene → dense avalanche-probability heatmap</a:t>
            </a:r>
          </a:p>
          <a:p>
            <a:pPr algn="l">
              <a:spcAft>
                <a:spcPts val="800"/>
              </a:spcAft>
            </a:pPr>
            <a:r>
              <a:rPr sz="1300">
                <a:solidFill>
                  <a:srgbClr val="2D3142"/>
                </a:solidFill>
                <a:latin typeface="Avenir Next"/>
              </a:rPr>
              <a:t>—  Transfers to Tromsø OOD with 100 % proposal recall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920240"/>
            <a:ext cx="5394960" cy="4389120"/>
          </a:xfrm>
          <a:prstGeom prst="rect">
            <a:avLst/>
          </a:prstGeom>
          <a:solidFill>
            <a:srgbClr val="F7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920240"/>
            <a:ext cx="73152" cy="438912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0574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C1440E"/>
                </a:solidFill>
                <a:latin typeface="Futura"/>
              </a:rPr>
              <a:t>DETECT → PROPOSE → REFINE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4688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8B8374"/>
                </a:solidFill>
                <a:latin typeface="Avenir Next"/>
              </a:rPr>
              <a:t>Phase 1 proposes regions. Refiner segments each crop.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301752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D3142"/>
                </a:solidFill>
                <a:latin typeface="Avenir Next"/>
              </a:rPr>
              <a:t>Refine crops (fine-tune)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32918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C1440E"/>
                </a:solidFill>
                <a:latin typeface="Avenir Next"/>
              </a:rPr>
              <a:t>F1 = 0.555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3639312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8B8374"/>
                </a:solidFill>
                <a:latin typeface="Avenir Next"/>
              </a:rPr>
              <a:t>150 TP crops vs 30 k patches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40233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D3142"/>
                </a:solidFill>
                <a:latin typeface="Avenir Next"/>
              </a:rPr>
              <a:t>Refine crops (encoder frozen)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42976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C1440E"/>
                </a:solidFill>
                <a:latin typeface="Avenir Next"/>
              </a:rPr>
              <a:t>F1 = 0.551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645152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8B8374"/>
                </a:solidFill>
                <a:latin typeface="Avenir Next"/>
              </a:rPr>
              <a:t>bottleneck is data, not forgetting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502920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D3142"/>
                </a:solidFill>
                <a:latin typeface="Avenir Next"/>
              </a:rPr>
              <a:t>Heatmap as Phase-2 channel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53035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C1440E"/>
                </a:solidFill>
                <a:latin typeface="Avenir Next"/>
              </a:rPr>
              <a:t>F1 = 0.773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5650992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8B8374"/>
                </a:solidFill>
                <a:latin typeface="Avenir Next"/>
              </a:rPr>
              <a:t>Phase 1 info already captured internally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465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2D3142"/>
                </a:solidFill>
                <a:latin typeface="Avenir Next"/>
              </a:rPr>
              <a:t>The instance-F1 advantage is architectural. It cannot be bolted on after the fact.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60175" y="649224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B8374"/>
                </a:solidFill>
                <a:latin typeface="Avenir Next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8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2D3142"/>
                </a:solidFill>
                <a:latin typeface="Futura"/>
              </a:rPr>
              <a:t>OTHER NEGATIVE RESULTS WORTH REPORTING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25880"/>
            <a:ext cx="822960" cy="4572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103120"/>
            <a:ext cx="73152" cy="77724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D3142"/>
                </a:solidFill>
                <a:latin typeface="Futura"/>
              </a:rPr>
              <a:t>Λ SWEEP OF COMPONENT-IOU LOSS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9572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2D3142"/>
                </a:solidFill>
                <a:latin typeface="Avenir Next"/>
              </a:rPr>
              <a:t>Trained with  L = BCE + λ · component-IoU  for λ ∈ {0, 0.25, 0.5, 1, 2}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9748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B8374"/>
                </a:solidFill>
                <a:latin typeface="Avenir Next"/>
              </a:rPr>
              <a:t>No setting kept both pixel F1 ≥ 0.78 AND D2 detection ≥ 65 %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154680"/>
            <a:ext cx="73152" cy="77724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0632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D3142"/>
                </a:solidFill>
                <a:latin typeface="Futura"/>
              </a:rPr>
              <a:t>BIGGER / DEEPER MODELS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44728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2D3142"/>
                </a:solidFill>
                <a:latin typeface="Avenir Next"/>
              </a:rPr>
              <a:t>More capacity consistently HURT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7490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B8374"/>
                </a:solidFill>
                <a:latin typeface="Avenir Next"/>
              </a:rPr>
              <a:t>Inductive bias is doing the work, not scale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206240"/>
            <a:ext cx="73152" cy="77724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11480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D3142"/>
                </a:solidFill>
                <a:latin typeface="Futura"/>
              </a:rPr>
              <a:t>HEAVY REGULARIZATION, WARM RESTARTS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4988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2D3142"/>
                </a:solidFill>
                <a:latin typeface="Avenir Next"/>
              </a:rPr>
              <a:t>Both hurt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80060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B8374"/>
                </a:solidFill>
                <a:latin typeface="Avenir Next"/>
              </a:rPr>
              <a:t>Equivariance is already regularizing the model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5257800"/>
            <a:ext cx="73152" cy="77724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16636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D3142"/>
                </a:solidFill>
                <a:latin typeface="Futura"/>
              </a:rPr>
              <a:t>CALIBRATION ASYMMETRY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55040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2D3142"/>
                </a:solidFill>
                <a:latin typeface="Avenir Next"/>
              </a:rPr>
              <a:t>Our F1-optimal threshold 0.225, Gatti's 0.775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85216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B8374"/>
                </a:solidFill>
                <a:latin typeface="Avenir Next"/>
              </a:rPr>
              <a:t>Same F1, completely different probability distributions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60175" y="649224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B8374"/>
                </a:solidFill>
                <a:latin typeface="Avenir Next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8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2D3142"/>
                </a:solidFill>
                <a:latin typeface="Futura"/>
              </a:rPr>
              <a:t>WHAT WE CONTRIBUTED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25880"/>
            <a:ext cx="822960" cy="4572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8B8374"/>
                </a:solidFill>
                <a:latin typeface="Avenir Next"/>
              </a:rPr>
              <a:t>Four things worth taking away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57400"/>
            <a:ext cx="109728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200" b="1">
                <a:solidFill>
                  <a:srgbClr val="C1440E"/>
                </a:solidFill>
                <a:latin typeface="Futura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21488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D3142"/>
                </a:solidFill>
                <a:latin typeface="Futura"/>
              </a:rPr>
              <a:t>A METRIC THAT MATCHES WHAT OPERATORS CARE ABOUT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5603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8B8374"/>
                </a:solidFill>
                <a:latin typeface="Avenir Next"/>
              </a:rPr>
              <a:t>Instance-level F1 reveals detection gaps that pixel F1 hides. Should become standard reporting on AvalCD.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17520"/>
            <a:ext cx="109728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200" b="1">
                <a:solidFill>
                  <a:srgbClr val="C1440E"/>
                </a:solidFill>
                <a:latin typeface="Futura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10896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D3142"/>
                </a:solidFill>
                <a:latin typeface="Futura"/>
              </a:rPr>
              <a:t>D4-EQUIVARIANCE WINS OVER SCALE HERE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5204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8B8374"/>
                </a:solidFill>
                <a:latin typeface="Avenir Next"/>
              </a:rPr>
              <a:t>625 k params match or exceed a 2.39 M Swin-UNet on pixel F1, and outperform it by +10.7 pp on instance F1.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977640"/>
            <a:ext cx="109728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200" b="1">
                <a:solidFill>
                  <a:srgbClr val="C1440E"/>
                </a:solidFill>
                <a:latin typeface="Futura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40690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D3142"/>
                </a:solidFill>
                <a:latin typeface="Futura"/>
              </a:rPr>
              <a:t>THE GAP MATTERS MOST WHERE IT COUNTS — D3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448056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8B8374"/>
                </a:solidFill>
                <a:latin typeface="Avenir Next"/>
              </a:rPr>
              <a:t>+13 pp on the deposits that drive real decisions (road closures, rescue dispatch).  n = 72, well-powered.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937760"/>
            <a:ext cx="109728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200" b="1">
                <a:solidFill>
                  <a:srgbClr val="C1440E"/>
                </a:solidFill>
                <a:latin typeface="Futura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50292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D3142"/>
                </a:solidFill>
                <a:latin typeface="Futura"/>
              </a:rPr>
              <a:t>HONEST NEGATIVES RULE OUT THE EASY ALTERNATIVES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54406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8B8374"/>
                </a:solidFill>
                <a:latin typeface="Avenir Next"/>
              </a:rPr>
              <a:t>DPR, loss engineering, and scale all failed. The advantage is architectural.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60175" y="649224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B8374"/>
                </a:solidFill>
                <a:latin typeface="Avenir Next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8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2D3142"/>
                </a:solidFill>
                <a:latin typeface="Futura"/>
              </a:rPr>
              <a:t>CONCLUSION  /  WHAT COMES NEXT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25880"/>
            <a:ext cx="822960" cy="4572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20240"/>
            <a:ext cx="5394960" cy="4480560"/>
          </a:xfrm>
          <a:prstGeom prst="rect">
            <a:avLst/>
          </a:prstGeom>
          <a:solidFill>
            <a:srgbClr val="F7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920240"/>
            <a:ext cx="73152" cy="4480560"/>
          </a:xfrm>
          <a:prstGeom prst="rect">
            <a:avLst/>
          </a:prstGeom>
          <a:solidFill>
            <a:srgbClr val="4A67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0574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4A6741"/>
                </a:solidFill>
                <a:latin typeface="Futura"/>
              </a:rPr>
              <a:t>CONCLUSION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468880"/>
            <a:ext cx="5029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2D3142"/>
                </a:solidFill>
                <a:latin typeface="Futura"/>
              </a:rPr>
              <a:t>Symmetry-aware inductive bias beats scale for this problem.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114800"/>
            <a:ext cx="50292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>
                <a:solidFill>
                  <a:srgbClr val="2D3142"/>
                </a:solidFill>
                <a:latin typeface="Avenir Next"/>
              </a:rPr>
              <a:t>—  Matched pixel F1 at 4× fewer parameters</a:t>
            </a:r>
          </a:p>
          <a:p>
            <a:pPr algn="l">
              <a:spcAft>
                <a:spcPts val="800"/>
              </a:spcAft>
            </a:pPr>
            <a:r>
              <a:rPr sz="1300">
                <a:solidFill>
                  <a:srgbClr val="2D3142"/>
                </a:solidFill>
                <a:latin typeface="Avenir Next"/>
              </a:rPr>
              <a:t>—  +10.7 pp instance F1, +13 pp on D3</a:t>
            </a:r>
          </a:p>
          <a:p>
            <a:pPr algn="l">
              <a:spcAft>
                <a:spcPts val="800"/>
              </a:spcAft>
            </a:pPr>
            <a:r>
              <a:rPr sz="1300">
                <a:solidFill>
                  <a:srgbClr val="2D3142"/>
                </a:solidFill>
                <a:latin typeface="Avenir Next"/>
              </a:rPr>
              <a:t>—  Pixel F1 is an insufficient benchmark</a:t>
            </a:r>
          </a:p>
          <a:p>
            <a:pPr algn="l">
              <a:spcAft>
                <a:spcPts val="800"/>
              </a:spcAft>
            </a:pPr>
            <a:r>
              <a:rPr sz="1300">
                <a:solidFill>
                  <a:srgbClr val="2D3142"/>
                </a:solidFill>
                <a:latin typeface="Avenir Next"/>
              </a:rPr>
              <a:t>—  The advantage is architectural, not bolt-on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920240"/>
            <a:ext cx="5394960" cy="4480560"/>
          </a:xfrm>
          <a:prstGeom prst="rect">
            <a:avLst/>
          </a:prstGeom>
          <a:solidFill>
            <a:srgbClr val="F7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920240"/>
            <a:ext cx="73152" cy="448056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0574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C1440E"/>
                </a:solidFill>
                <a:latin typeface="Futura"/>
              </a:rPr>
              <a:t>WHAT COMES NEXT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56032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D3142"/>
                </a:solidFill>
                <a:latin typeface="Avenir Next"/>
              </a:rPr>
              <a:t>More OOD test scenes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2816352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8B8374"/>
                </a:solidFill>
                <a:latin typeface="Avenir Next"/>
              </a:rPr>
              <a:t>One held-out scene is thin evidence for generalization  ·  need curated multi-scene OOD benchmarks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3310128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D3142"/>
                </a:solidFill>
                <a:latin typeface="Avenir Next"/>
              </a:rPr>
              <a:t>Seed-level variance on headline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35661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8B8374"/>
                </a:solidFill>
                <a:latin typeface="Avenir Next"/>
              </a:rPr>
              <a:t>0.7938 is seed 1 only; ablations used 3 seeds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4059936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D3142"/>
                </a:solidFill>
                <a:latin typeface="Avenir Next"/>
              </a:rPr>
              <a:t>D2 detection floor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431596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8B8374"/>
                </a:solidFill>
                <a:latin typeface="Avenir Next"/>
              </a:rPr>
              <a:t>Physics-limited or architecture-limited?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4809744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D3142"/>
                </a:solidFill>
                <a:latin typeface="Avenir Next"/>
              </a:rPr>
              <a:t>Operational integration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506577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8B8374"/>
                </a:solidFill>
                <a:latin typeface="Avenir Next"/>
              </a:rPr>
              <a:t>Sentinel-1 ingest → deposit map in minutes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5559552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D3142"/>
                </a:solidFill>
                <a:latin typeface="Avenir Next"/>
              </a:rPr>
              <a:t>Other SAR missions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5815584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8B8374"/>
                </a:solidFill>
                <a:latin typeface="Avenir Next"/>
              </a:rPr>
              <a:t>SAOCOM, NISAR, TerraSAR-X — same symmetry, different geometry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60175" y="649224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B8374"/>
                </a:solidFill>
                <a:latin typeface="Avenir Next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D3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2560320"/>
            <a:ext cx="109728" cy="18288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3774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D4A574"/>
                </a:solidFill>
                <a:latin typeface="Futura"/>
              </a:rPr>
              <a:t>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83464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0" b="1">
                <a:solidFill>
                  <a:srgbClr val="EFE8DB"/>
                </a:solidFill>
                <a:latin typeface="Futura"/>
              </a:rPr>
              <a:t>THANKS.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11480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>
                <a:solidFill>
                  <a:srgbClr val="D4A574"/>
                </a:solidFill>
                <a:latin typeface="Avenir Next"/>
              </a:rPr>
              <a:t>Questions welcome.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5577840"/>
            <a:ext cx="2286000" cy="27432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57150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EFE8DB"/>
                </a:solidFill>
                <a:latin typeface="Menlo"/>
              </a:rPr>
              <a:t>github.com/gsanmarco/Equivariant-SAR-Segmentation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608076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B8374"/>
                </a:solidFill>
                <a:latin typeface="Menlo"/>
              </a:rPr>
              <a:t>Phase 1:  github.com/sanmarcog/Equivariant-CNN-SAR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